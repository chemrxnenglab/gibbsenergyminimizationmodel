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7" r:id="rId9"/>
    <p:sldId id="266" r:id="rId10"/>
    <p:sldId id="264" r:id="rId11"/>
    <p:sldId id="258" r:id="rId12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5756"/>
    <a:srgbClr val="FFFFFF"/>
    <a:srgbClr val="333333"/>
    <a:srgbClr val="E6E6E6"/>
    <a:srgbClr val="DF6D07"/>
    <a:srgbClr val="BD6005"/>
    <a:srgbClr val="00B050"/>
    <a:srgbClr val="8C1C00"/>
    <a:srgbClr val="006600"/>
    <a:srgbClr val="7D9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4" autoAdjust="0"/>
    <p:restoredTop sz="95734" autoAdjust="0"/>
  </p:normalViewPr>
  <p:slideViewPr>
    <p:cSldViewPr>
      <p:cViewPr varScale="1">
        <p:scale>
          <a:sx n="89" d="100"/>
          <a:sy n="89" d="100"/>
        </p:scale>
        <p:origin x="192" y="6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02.04.25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Chemical Reaction Engineering Lab | Institute of Chemical Engineering |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Chemical Reaction Engineering Lab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‹Nr.›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Chemical Reaction Engineering Lab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‹Nr.›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0378-3812(82)85002-4" TargetMode="External"/><Relationship Id="rId2" Type="http://schemas.openxmlformats.org/officeDocument/2006/relationships/hyperlink" Target="https://doi.org/10.1016/0378-3812(82)85001-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1/ie3017362" TargetMode="External"/><Relationship Id="rId2" Type="http://schemas.openxmlformats.org/officeDocument/2006/relationships/hyperlink" Target="https://doi.org/10.1021/acs.iecr.7b04866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methaNNol</a:t>
            </a:r>
            <a:r>
              <a:rPr lang="en-US" dirty="0"/>
              <a:t> + (DME synthesis)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293096"/>
            <a:ext cx="6528048" cy="1620000"/>
          </a:xfrm>
        </p:spPr>
        <p:txBody>
          <a:bodyPr>
            <a:normAutofit/>
          </a:bodyPr>
          <a:lstStyle/>
          <a:p>
            <a:r>
              <a:rPr lang="en-US" dirty="0"/>
              <a:t>Johannes Geri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find the relevant files for </a:t>
            </a:r>
            <a:r>
              <a:rPr lang="en-US" dirty="0" err="1"/>
              <a:t>methaNNol</a:t>
            </a:r>
            <a:r>
              <a:rPr lang="en-US" dirty="0"/>
              <a:t>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repo: </a:t>
            </a:r>
            <a:r>
              <a:rPr lang="en-US" dirty="0" err="1"/>
              <a:t>gibbsenergymininimizationmodel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Folder: </a:t>
            </a:r>
            <a:r>
              <a:rPr lang="en-US" dirty="0" err="1">
                <a:sym typeface="Wingdings" pitchFamily="2" charset="2"/>
              </a:rPr>
              <a:t>PhaseStabilityTests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Files:</a:t>
            </a:r>
          </a:p>
          <a:p>
            <a:pPr lvl="1"/>
            <a:r>
              <a:rPr lang="en-US" dirty="0" err="1">
                <a:sym typeface="Wingdings" pitchFamily="2" charset="2"/>
              </a:rPr>
              <a:t>CubicEquationSolver.py</a:t>
            </a:r>
            <a:r>
              <a:rPr lang="en-US" dirty="0">
                <a:sym typeface="Wingdings" pitchFamily="2" charset="2"/>
              </a:rPr>
              <a:t>  finds analytical roots for fugacity coefficients</a:t>
            </a:r>
          </a:p>
          <a:p>
            <a:pPr lvl="1"/>
            <a:r>
              <a:rPr lang="en-US" dirty="0" err="1">
                <a:sym typeface="Wingdings" pitchFamily="2" charset="2"/>
              </a:rPr>
              <a:t>EqConstant.py</a:t>
            </a:r>
            <a:r>
              <a:rPr lang="en-US" dirty="0">
                <a:sym typeface="Wingdings" pitchFamily="2" charset="2"/>
              </a:rPr>
              <a:t>  might be used for comparison of equilibrium constants in methanol synthesis by GEM results and free Gibbs energies of formation in future</a:t>
            </a:r>
          </a:p>
          <a:p>
            <a:pPr lvl="1"/>
            <a:r>
              <a:rPr lang="en-US" dirty="0" err="1">
                <a:sym typeface="Wingdings" pitchFamily="2" charset="2"/>
              </a:rPr>
              <a:t>SRK.py</a:t>
            </a:r>
            <a:r>
              <a:rPr lang="en-US" dirty="0">
                <a:sym typeface="Wingdings" pitchFamily="2" charset="2"/>
              </a:rPr>
              <a:t>  calculation of fugacity coefficients, two functions: one for VLE and one for single phase</a:t>
            </a:r>
          </a:p>
          <a:p>
            <a:pPr lvl="1"/>
            <a:r>
              <a:rPr lang="en-US" dirty="0" err="1">
                <a:sym typeface="Wingdings" pitchFamily="2" charset="2"/>
              </a:rPr>
              <a:t>PhaseStability.py</a:t>
            </a:r>
            <a:r>
              <a:rPr lang="en-US" dirty="0">
                <a:sym typeface="Wingdings" pitchFamily="2" charset="2"/>
              </a:rPr>
              <a:t>  functions for evaluation of stability of GEM solution</a:t>
            </a:r>
          </a:p>
          <a:p>
            <a:pPr lvl="1"/>
            <a:r>
              <a:rPr lang="en-US" dirty="0" err="1">
                <a:sym typeface="Wingdings" pitchFamily="2" charset="2"/>
              </a:rPr>
              <a:t>Gmin.py</a:t>
            </a:r>
            <a:r>
              <a:rPr lang="en-US" dirty="0">
                <a:sym typeface="Wingdings" pitchFamily="2" charset="2"/>
              </a:rPr>
              <a:t>  Gibbs Energy minimization model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8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1D5B7F-2D4D-E004-8F44-89D2F45B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Gibbs Energy </a:t>
            </a:r>
            <a:r>
              <a:rPr lang="de-DE" dirty="0" err="1"/>
              <a:t>Minimization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VLE –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E75F2E-6F5F-7B3D-372F-F09211759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Michelsen Part I - </a:t>
            </a:r>
            <a:r>
              <a:rPr lang="de-DE" b="0" i="0" u="none" strike="noStrike" dirty="0">
                <a:effectLst/>
                <a:latin typeface="ElsevierSans"/>
                <a:hlinkClick r:id="rId2" tooltip="Persistent link using digital object identifier"/>
              </a:rPr>
              <a:t>https://doi.org/10.1016/0378-3812(82)85001-2</a:t>
            </a:r>
            <a:endParaRPr lang="de-DE" dirty="0">
              <a:latin typeface="ElsevierSans"/>
            </a:endParaRPr>
          </a:p>
          <a:p>
            <a:r>
              <a:rPr lang="de-DE" b="0" i="0" u="none" strike="noStrike" dirty="0">
                <a:effectLst/>
              </a:rPr>
              <a:t>Michelsen Part II - </a:t>
            </a:r>
            <a:r>
              <a:rPr lang="de-DE" b="0" i="0" u="none" strike="noStrike" dirty="0">
                <a:effectLst/>
                <a:latin typeface="ElsevierSans"/>
                <a:hlinkClick r:id="rId3" tooltip="Persistent link using digital object identifier"/>
              </a:rPr>
              <a:t>https://doi.org/10.1016/0378-3812(82)85002-4</a:t>
            </a:r>
            <a:endParaRPr lang="de-DE" dirty="0">
              <a:latin typeface="ElsevierSans"/>
            </a:endParaRPr>
          </a:p>
          <a:p>
            <a:r>
              <a:rPr lang="de-DE" b="0" i="0" u="none" strike="noStrike" dirty="0">
                <a:effectLst/>
              </a:rPr>
              <a:t>C. </a:t>
            </a:r>
            <a:r>
              <a:rPr lang="de-DE" b="0" i="0" u="none" strike="noStrike" dirty="0" err="1">
                <a:effectLst/>
              </a:rPr>
              <a:t>Tsanas</a:t>
            </a:r>
            <a:r>
              <a:rPr lang="de-DE" b="0" i="0" u="none" strike="noStrike" dirty="0">
                <a:effectLst/>
              </a:rPr>
              <a:t> 2018 – </a:t>
            </a:r>
            <a:r>
              <a:rPr lang="de-DE" b="0" i="0" u="none" strike="noStrike" dirty="0" err="1">
                <a:effectLst/>
              </a:rPr>
              <a:t>Simulatenous</a:t>
            </a:r>
            <a:r>
              <a:rPr lang="de-DE" b="0" i="0" u="none" strike="noStrike" dirty="0">
                <a:effectLst/>
              </a:rPr>
              <a:t> Chemical and Phase Equilibrium </a:t>
            </a:r>
            <a:r>
              <a:rPr lang="de-DE" b="0" i="0" u="none" strike="noStrike" dirty="0" err="1">
                <a:effectLst/>
              </a:rPr>
              <a:t>Calculations</a:t>
            </a:r>
            <a:r>
              <a:rPr lang="de-DE" b="0" i="0" u="none" strike="noStrike" dirty="0">
                <a:effectLst/>
              </a:rPr>
              <a:t> </a:t>
            </a:r>
            <a:r>
              <a:rPr lang="de-DE" b="0" i="0" u="none" strike="noStrike" dirty="0" err="1">
                <a:effectLst/>
              </a:rPr>
              <a:t>with</a:t>
            </a:r>
            <a:r>
              <a:rPr lang="de-DE" b="0" i="0" u="none" strike="noStrike" dirty="0">
                <a:effectLst/>
              </a:rPr>
              <a:t> Non-</a:t>
            </a:r>
            <a:r>
              <a:rPr lang="de-DE" b="0" i="0" u="none" strike="noStrike" dirty="0" err="1">
                <a:effectLst/>
              </a:rPr>
              <a:t>Stoichiometric</a:t>
            </a:r>
            <a:r>
              <a:rPr lang="de-DE" b="0" i="0" u="none" strike="noStrike" dirty="0">
                <a:effectLst/>
              </a:rPr>
              <a:t> Method (Chapter 3.1.3 </a:t>
            </a:r>
            <a:r>
              <a:rPr lang="de-DE" b="0" i="0" u="none" strike="noStrike" dirty="0" err="1">
                <a:effectLst/>
              </a:rPr>
              <a:t>Stability</a:t>
            </a:r>
            <a:r>
              <a:rPr lang="de-DE" b="0" i="0" u="none" strike="noStrike" dirty="0">
                <a:effectLst/>
              </a:rPr>
              <a:t> </a:t>
            </a:r>
            <a:r>
              <a:rPr lang="de-DE" b="0" i="0" u="none" strike="noStrike" dirty="0" err="1">
                <a:effectLst/>
              </a:rPr>
              <a:t>analysis</a:t>
            </a:r>
            <a:r>
              <a:rPr lang="de-DE" b="0" i="0" u="none" strike="noStrike" dirty="0">
                <a:effectLst/>
              </a:rPr>
              <a:t>)</a:t>
            </a:r>
          </a:p>
          <a:p>
            <a:pPr marL="0" indent="0">
              <a:buNone/>
            </a:pPr>
            <a:r>
              <a:rPr lang="de-DE" b="0" i="0" u="none" strike="noStrike" dirty="0">
                <a:effectLst/>
                <a:sym typeface="Wingdings" pitchFamily="2" charset="2"/>
              </a:rPr>
              <a:t>	 Here a </a:t>
            </a:r>
            <a:r>
              <a:rPr lang="de-DE" b="0" i="0" u="none" strike="noStrike" dirty="0" err="1">
                <a:effectLst/>
                <a:sym typeface="Wingdings" pitchFamily="2" charset="2"/>
              </a:rPr>
              <a:t>brief</a:t>
            </a:r>
            <a:r>
              <a:rPr lang="de-DE" b="0" i="0" u="none" strike="noStrike" dirty="0">
                <a:effectLst/>
                <a:sym typeface="Wingdings" pitchFamily="2" charset="2"/>
              </a:rPr>
              <a:t> </a:t>
            </a:r>
            <a:r>
              <a:rPr lang="de-DE" b="0" i="0" u="none" strike="noStrike" dirty="0" err="1">
                <a:effectLst/>
                <a:sym typeface="Wingdings" pitchFamily="2" charset="2"/>
              </a:rPr>
              <a:t>explanatioin</a:t>
            </a:r>
            <a:r>
              <a:rPr lang="de-DE" b="0" i="0" u="none" strike="noStrike" dirty="0">
                <a:effectLst/>
                <a:sym typeface="Wingdings" pitchFamily="2" charset="2"/>
              </a:rPr>
              <a:t> </a:t>
            </a:r>
            <a:r>
              <a:rPr lang="de-DE" b="0" i="0" u="none" strike="noStrike" dirty="0" err="1">
                <a:effectLst/>
                <a:sym typeface="Wingdings" pitchFamily="2" charset="2"/>
              </a:rPr>
              <a:t>of</a:t>
            </a:r>
            <a:r>
              <a:rPr lang="de-DE" b="0" i="0" u="none" strike="noStrike" dirty="0">
                <a:effectLst/>
                <a:sym typeface="Wingdings" pitchFamily="2" charset="2"/>
              </a:rPr>
              <a:t> </a:t>
            </a:r>
            <a:r>
              <a:rPr lang="de-DE" b="0" i="0" u="none" strike="noStrike" dirty="0" err="1">
                <a:effectLst/>
                <a:sym typeface="Wingdings" pitchFamily="2" charset="2"/>
              </a:rPr>
              <a:t>the</a:t>
            </a:r>
            <a:r>
              <a:rPr lang="de-DE" b="0" i="0" u="none" strike="noStrike" dirty="0">
                <a:effectLst/>
                <a:sym typeface="Wingdings" pitchFamily="2" charset="2"/>
              </a:rPr>
              <a:t> </a:t>
            </a:r>
            <a:r>
              <a:rPr lang="de-DE" dirty="0">
                <a:sym typeface="Wingdings" pitchFamily="2" charset="2"/>
              </a:rPr>
              <a:t>Tangent Plane </a:t>
            </a:r>
            <a:r>
              <a:rPr lang="de-DE" dirty="0" err="1">
                <a:sym typeface="Wingdings" pitchFamily="2" charset="2"/>
              </a:rPr>
              <a:t>Distance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criterion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given</a:t>
            </a:r>
            <a:endParaRPr lang="de-DE" b="0" i="0" u="none" strike="noStrike" dirty="0">
              <a:effectLst/>
            </a:endParaRPr>
          </a:p>
          <a:p>
            <a:r>
              <a:rPr lang="de-DE" dirty="0"/>
              <a:t>Michelsen 2007 – </a:t>
            </a:r>
            <a:r>
              <a:rPr lang="de-DE" dirty="0" err="1"/>
              <a:t>Thermodynamic</a:t>
            </a:r>
            <a:r>
              <a:rPr lang="de-DE" dirty="0"/>
              <a:t> Models: </a:t>
            </a:r>
            <a:r>
              <a:rPr lang="de-DE" dirty="0" err="1"/>
              <a:t>Fundamentals</a:t>
            </a:r>
            <a:r>
              <a:rPr lang="de-DE" dirty="0"/>
              <a:t> &amp; Computational </a:t>
            </a:r>
            <a:r>
              <a:rPr lang="de-DE" dirty="0" err="1"/>
              <a:t>Aspects</a:t>
            </a:r>
            <a:endParaRPr lang="de-DE" b="0" i="0" u="none" strike="noStrike" dirty="0">
              <a:effectLst/>
            </a:endParaRPr>
          </a:p>
          <a:p>
            <a:pPr marL="0" indent="0">
              <a:buNone/>
            </a:pPr>
            <a:endParaRPr lang="de-DE" b="0" i="0" u="none" strike="noStrike" dirty="0">
              <a:effectLst/>
            </a:endParaRPr>
          </a:p>
          <a:p>
            <a:pPr marL="914400" lvl="2" indent="0">
              <a:buNone/>
            </a:pPr>
            <a:endParaRPr lang="de-DE" dirty="0">
              <a:latin typeface="ElsevierSans"/>
            </a:endParaRPr>
          </a:p>
          <a:p>
            <a:pPr marL="914400" lvl="2" indent="0">
              <a:buNone/>
            </a:pPr>
            <a:r>
              <a:rPr lang="de-DE" dirty="0">
                <a:latin typeface="ElsevierSans"/>
              </a:rPr>
              <a:t>	</a:t>
            </a:r>
          </a:p>
          <a:p>
            <a:pPr lvl="2"/>
            <a:endParaRPr lang="de-DE" b="0" i="0" u="none" strike="noStrike" dirty="0">
              <a:effectLst/>
              <a:latin typeface="ElsevierSans"/>
            </a:endParaRPr>
          </a:p>
          <a:p>
            <a:pPr marL="0" indent="0">
              <a:buNone/>
            </a:pPr>
            <a:endParaRPr lang="de-DE" b="0" i="0" u="none" strike="noStrike" dirty="0">
              <a:effectLst/>
              <a:latin typeface="ElsevierSans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226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505973-08C7-C743-73F3-233B5CD7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Procedure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calculating</a:t>
            </a:r>
            <a:r>
              <a:rPr lang="de-DE" dirty="0"/>
              <a:t> </a:t>
            </a:r>
            <a:r>
              <a:rPr lang="de-DE" dirty="0" err="1"/>
              <a:t>simultaneous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 and </a:t>
            </a:r>
            <a:r>
              <a:rPr lang="de-DE" dirty="0" err="1"/>
              <a:t>chemical</a:t>
            </a:r>
            <a:r>
              <a:rPr lang="de-DE" dirty="0"/>
              <a:t> </a:t>
            </a:r>
            <a:r>
              <a:rPr lang="de-DE" dirty="0" err="1"/>
              <a:t>equilibrium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DED5DE7-373C-661D-2B99-423096CFF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" y="1052672"/>
            <a:ext cx="6720904" cy="5255591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B067AE-F593-EB27-3AAC-055EDD69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672"/>
            <a:ext cx="11568608" cy="5398528"/>
          </a:xfrm>
        </p:spPr>
        <p:txBody>
          <a:bodyPr/>
          <a:lstStyle/>
          <a:p>
            <a:pPr marL="1389062" lvl="2" indent="-514350">
              <a:buFont typeface="+mj-lt"/>
              <a:buAutoNum type="romanLcPeriod"/>
            </a:pPr>
            <a:endParaRPr lang="de-DE" dirty="0"/>
          </a:p>
          <a:p>
            <a:pPr marL="725487" lvl="1" indent="-457200">
              <a:buFont typeface="+mj-lt"/>
              <a:buAutoNum type="romanLcPeriod"/>
            </a:pP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4567BD4-FA04-02C1-7184-F2A93589CDB3}"/>
              </a:ext>
            </a:extLst>
          </p:cNvPr>
          <p:cNvSpPr txBox="1"/>
          <p:nvPr/>
        </p:nvSpPr>
        <p:spPr>
          <a:xfrm>
            <a:off x="0" y="6517379"/>
            <a:ext cx="77768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[1] C. </a:t>
            </a:r>
            <a:r>
              <a:rPr lang="de-DE" sz="900" dirty="0" err="1"/>
              <a:t>Tsanas</a:t>
            </a:r>
            <a:r>
              <a:rPr lang="de-DE" sz="900" dirty="0"/>
              <a:t>, </a:t>
            </a:r>
            <a:r>
              <a:rPr lang="de-DE" sz="900" dirty="0" err="1"/>
              <a:t>Simultaneous</a:t>
            </a:r>
            <a:r>
              <a:rPr lang="de-DE" sz="900" dirty="0"/>
              <a:t> Chemical and Phase Equilibrium </a:t>
            </a:r>
            <a:r>
              <a:rPr lang="de-DE" sz="900" dirty="0" err="1"/>
              <a:t>Calculations</a:t>
            </a:r>
            <a:r>
              <a:rPr lang="de-DE" sz="900" dirty="0"/>
              <a:t> </a:t>
            </a:r>
            <a:r>
              <a:rPr lang="de-DE" sz="900" dirty="0" err="1"/>
              <a:t>with</a:t>
            </a:r>
            <a:r>
              <a:rPr lang="de-DE" sz="900" dirty="0"/>
              <a:t> Non-</a:t>
            </a:r>
            <a:r>
              <a:rPr lang="de-DE" sz="900" dirty="0" err="1"/>
              <a:t>Stoichiometric</a:t>
            </a:r>
            <a:r>
              <a:rPr lang="de-DE" sz="900" dirty="0"/>
              <a:t> Method, PhD </a:t>
            </a:r>
            <a:r>
              <a:rPr lang="de-DE" sz="900" dirty="0" err="1"/>
              <a:t>thesis</a:t>
            </a:r>
            <a:r>
              <a:rPr lang="de-DE" sz="900" dirty="0"/>
              <a:t>.</a:t>
            </a:r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1B2B905A-A7C3-27AC-2685-AA6060B94F16}"/>
              </a:ext>
            </a:extLst>
          </p:cNvPr>
          <p:cNvSpPr/>
          <p:nvPr/>
        </p:nvSpPr>
        <p:spPr>
          <a:xfrm>
            <a:off x="4511824" y="1196752"/>
            <a:ext cx="432048" cy="14401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3BB5903-5EB7-BC93-6D1A-8DE41EF64D8A}"/>
              </a:ext>
            </a:extLst>
          </p:cNvPr>
          <p:cNvSpPr txBox="1"/>
          <p:nvPr/>
        </p:nvSpPr>
        <p:spPr>
          <a:xfrm>
            <a:off x="4943872" y="1732166"/>
            <a:ext cx="4110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Input </a:t>
            </a:r>
            <a:r>
              <a:rPr lang="de-DE" dirty="0" err="1"/>
              <a:t>for</a:t>
            </a:r>
            <a:r>
              <a:rPr lang="de-DE" dirty="0"/>
              <a:t> GEM </a:t>
            </a:r>
            <a:r>
              <a:rPr lang="de-DE" dirty="0" err="1"/>
              <a:t>solver</a:t>
            </a:r>
            <a:r>
              <a:rPr lang="de-DE" dirty="0"/>
              <a:t> (T, p, n</a:t>
            </a:r>
            <a:r>
              <a:rPr lang="de-DE" baseline="-25000" dirty="0"/>
              <a:t>0</a:t>
            </a:r>
            <a:r>
              <a:rPr lang="de-DE" dirty="0"/>
              <a:t>, </a:t>
            </a:r>
            <a:r>
              <a:rPr lang="de-DE" dirty="0" err="1"/>
              <a:t>n</a:t>
            </a:r>
            <a:r>
              <a:rPr lang="de-DE" baseline="-25000" dirty="0" err="1"/>
              <a:t>eq,guess</a:t>
            </a:r>
            <a:r>
              <a:rPr lang="de-DE" dirty="0"/>
              <a:t>), </a:t>
            </a:r>
            <a:r>
              <a:rPr lang="de-DE" dirty="0" err="1"/>
              <a:t>assume</a:t>
            </a:r>
            <a:r>
              <a:rPr lang="de-DE" dirty="0"/>
              <a:t> N</a:t>
            </a:r>
            <a:r>
              <a:rPr lang="de-DE" baseline="-25000" dirty="0"/>
              <a:t>P </a:t>
            </a:r>
            <a:r>
              <a:rPr lang="de-DE" dirty="0"/>
              <a:t>= 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458FDAF-5E1C-3A1D-A268-F51929893F95}"/>
              </a:ext>
            </a:extLst>
          </p:cNvPr>
          <p:cNvSpPr txBox="1"/>
          <p:nvPr/>
        </p:nvSpPr>
        <p:spPr>
          <a:xfrm>
            <a:off x="7668524" y="2587613"/>
            <a:ext cx="33843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1. </a:t>
            </a:r>
            <a:r>
              <a:rPr lang="de-DE" dirty="0" err="1"/>
              <a:t>Assume</a:t>
            </a:r>
            <a:r>
              <a:rPr lang="de-DE" dirty="0"/>
              <a:t> N</a:t>
            </a:r>
            <a:r>
              <a:rPr lang="de-DE" baseline="-25000" dirty="0"/>
              <a:t>P </a:t>
            </a:r>
            <a:r>
              <a:rPr lang="de-DE" dirty="0"/>
              <a:t>= 1</a:t>
            </a:r>
          </a:p>
          <a:p>
            <a:r>
              <a:rPr lang="de-DE" dirty="0"/>
              <a:t>2.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equilbrium</a:t>
            </a:r>
            <a:r>
              <a:rPr lang="de-DE" dirty="0"/>
              <a:t> </a:t>
            </a:r>
            <a:r>
              <a:rPr lang="de-DE" dirty="0" err="1"/>
              <a:t>mole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GEM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3. Use Phase </a:t>
            </a:r>
            <a:r>
              <a:rPr lang="de-DE" dirty="0" err="1"/>
              <a:t>Stability</a:t>
            </a:r>
            <a:r>
              <a:rPr lang="de-DE" dirty="0"/>
              <a:t> </a:t>
            </a:r>
            <a:r>
              <a:rPr lang="de-DE" dirty="0" err="1"/>
              <a:t>Criterion</a:t>
            </a:r>
            <a:r>
              <a:rPr lang="de-DE" dirty="0"/>
              <a:t> (TPD </a:t>
            </a:r>
            <a:r>
              <a:rPr lang="de-DE" dirty="0" err="1"/>
              <a:t>function</a:t>
            </a:r>
            <a:r>
              <a:rPr lang="de-DE" dirty="0"/>
              <a:t>)</a:t>
            </a:r>
          </a:p>
          <a:p>
            <a:r>
              <a:rPr lang="de-DE" dirty="0"/>
              <a:t>4.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unstable</a:t>
            </a:r>
            <a:r>
              <a:rPr lang="de-DE" dirty="0"/>
              <a:t>, </a:t>
            </a:r>
            <a:r>
              <a:rPr lang="de-DE" dirty="0" err="1"/>
              <a:t>set</a:t>
            </a:r>
            <a:r>
              <a:rPr lang="de-DE" dirty="0"/>
              <a:t> N</a:t>
            </a:r>
            <a:r>
              <a:rPr lang="de-DE" baseline="-25000" dirty="0"/>
              <a:t>P </a:t>
            </a:r>
            <a:r>
              <a:rPr lang="de-DE" dirty="0"/>
              <a:t>= 2</a:t>
            </a:r>
          </a:p>
          <a:p>
            <a:r>
              <a:rPr lang="de-DE" dirty="0"/>
              <a:t>5.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equilibrium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GEM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isofugacity</a:t>
            </a:r>
            <a:r>
              <a:rPr lang="de-DE" dirty="0"/>
              <a:t> </a:t>
            </a:r>
            <a:r>
              <a:rPr lang="de-DE" dirty="0" err="1"/>
              <a:t>criterion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solving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</a:t>
            </a:r>
            <a:r>
              <a:rPr lang="de-DE" baseline="-25000" dirty="0" err="1"/>
              <a:t>min</a:t>
            </a:r>
            <a:endParaRPr lang="de-DE" baseline="-25000" dirty="0"/>
          </a:p>
        </p:txBody>
      </p:sp>
    </p:spTree>
    <p:extLst>
      <p:ext uri="{BB962C8B-B14F-4D97-AF65-F5344CB8AC3E}">
        <p14:creationId xmlns:p14="http://schemas.microsoft.com/office/powerpoint/2010/main" val="3313313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5CB87-6B8E-39C0-F2C7-D3449FC8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 </a:t>
            </a:r>
            <a:r>
              <a:rPr lang="de-DE" dirty="0" err="1"/>
              <a:t>stability</a:t>
            </a:r>
            <a:r>
              <a:rPr lang="de-DE" dirty="0"/>
              <a:t> </a:t>
            </a:r>
            <a:r>
              <a:rPr lang="de-DE" dirty="0" err="1"/>
              <a:t>criterion</a:t>
            </a:r>
            <a:r>
              <a:rPr lang="de-DE" dirty="0"/>
              <a:t>: Tangent plane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39FDAA-AB6B-8596-3155-84D50102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Implementation in Python (all </a:t>
            </a:r>
            <a:r>
              <a:rPr lang="de-DE" dirty="0" err="1"/>
              <a:t>functions</a:t>
            </a:r>
            <a:r>
              <a:rPr lang="de-DE" dirty="0"/>
              <a:t> in </a:t>
            </a:r>
            <a:r>
              <a:rPr lang="de-DE" dirty="0" err="1"/>
              <a:t>PhaseStability.py</a:t>
            </a:r>
            <a:r>
              <a:rPr lang="de-DE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tpd</a:t>
            </a:r>
            <a:r>
              <a:rPr lang="de-DE" dirty="0"/>
              <a:t>: </a:t>
            </a:r>
            <a:r>
              <a:rPr lang="de-DE" dirty="0" err="1"/>
              <a:t>calculates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tangent</a:t>
            </a:r>
            <a:r>
              <a:rPr lang="de-DE" dirty="0"/>
              <a:t> plane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a trial </a:t>
            </a:r>
            <a:r>
              <a:rPr lang="de-DE" dirty="0" err="1"/>
              <a:t>composition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equilibrium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assumption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i="1" dirty="0"/>
              <a:t>N</a:t>
            </a:r>
            <a:r>
              <a:rPr lang="de-DE" baseline="-25000" dirty="0"/>
              <a:t>p</a:t>
            </a:r>
            <a:r>
              <a:rPr lang="de-DE" dirty="0"/>
              <a:t> = 1.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min_tpd</a:t>
            </a:r>
            <a:r>
              <a:rPr lang="de-DE" dirty="0"/>
              <a:t>: </a:t>
            </a:r>
            <a:r>
              <a:rPr lang="de-DE" dirty="0" err="1"/>
              <a:t>minimizes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tpd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a </a:t>
            </a:r>
            <a:r>
              <a:rPr lang="de-DE" dirty="0" err="1"/>
              <a:t>composition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trial </a:t>
            </a:r>
            <a:r>
              <a:rPr lang="de-DE" dirty="0" err="1"/>
              <a:t>phase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in a negative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tpd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equilibrium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unstable</a:t>
            </a:r>
            <a:r>
              <a:rPr lang="de-DE" dirty="0"/>
              <a:t> </a:t>
            </a:r>
          </a:p>
          <a:p>
            <a:pPr marL="914400" lvl="2" indent="0">
              <a:buNone/>
            </a:pPr>
            <a:r>
              <a:rPr lang="de-DE" dirty="0">
                <a:sym typeface="Wingdings" pitchFamily="2" charset="2"/>
              </a:rPr>
              <a:t> 2 </a:t>
            </a:r>
            <a:r>
              <a:rPr lang="de-DE" dirty="0" err="1">
                <a:sym typeface="Wingdings" pitchFamily="2" charset="2"/>
              </a:rPr>
              <a:t>phases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are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present</a:t>
            </a:r>
            <a:r>
              <a:rPr lang="de-DE" dirty="0">
                <a:sym typeface="Wingdings" pitchFamily="2" charset="2"/>
              </a:rPr>
              <a:t> in </a:t>
            </a:r>
            <a:r>
              <a:rPr lang="de-DE" dirty="0" err="1">
                <a:sym typeface="Wingdings" pitchFamily="2" charset="2"/>
              </a:rPr>
              <a:t>chemical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equilibrium</a:t>
            </a:r>
            <a:endParaRPr lang="de-DE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checking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another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phase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might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present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function</a:t>
            </a:r>
            <a:r>
              <a:rPr lang="de-DE" dirty="0">
                <a:sym typeface="Wingdings" pitchFamily="2" charset="2"/>
              </a:rPr>
              <a:t> initial </a:t>
            </a:r>
            <a:r>
              <a:rPr lang="de-DE" dirty="0" err="1">
                <a:sym typeface="Wingdings" pitchFamily="2" charset="2"/>
              </a:rPr>
              <a:t>guesses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used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which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calculates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distribution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coefficient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according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Wilson </a:t>
            </a:r>
            <a:r>
              <a:rPr lang="de-DE" dirty="0" err="1">
                <a:sym typeface="Wingdings" pitchFamily="2" charset="2"/>
              </a:rPr>
              <a:t>equation</a:t>
            </a:r>
            <a:endParaRPr lang="de-DE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initializing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VLE </a:t>
            </a:r>
            <a:r>
              <a:rPr lang="de-DE" dirty="0" err="1"/>
              <a:t>calculation</a:t>
            </a:r>
            <a:r>
              <a:rPr lang="de-DE" dirty="0"/>
              <a:t> ,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init_2Ph_calc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326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9190F-1E35-9F37-C2E9-84557EE3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GEM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5D535E-37B9-8326-CA82-101179D40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dirty="0"/>
              <a:t>Stangeland 2018 - </a:t>
            </a:r>
            <a:r>
              <a:rPr lang="de-DE" sz="1400" dirty="0" err="1"/>
              <a:t>Thermodynamic</a:t>
            </a:r>
            <a:r>
              <a:rPr lang="de-DE" sz="1400" dirty="0"/>
              <a:t> Analysis </a:t>
            </a:r>
            <a:r>
              <a:rPr lang="de-DE" sz="1400" dirty="0" err="1"/>
              <a:t>of</a:t>
            </a:r>
            <a:r>
              <a:rPr lang="de-DE" sz="1400" dirty="0"/>
              <a:t> Chemical and Phase </a:t>
            </a:r>
            <a:r>
              <a:rPr lang="de-DE" sz="1400" dirty="0" err="1"/>
              <a:t>Equilibria</a:t>
            </a:r>
            <a:r>
              <a:rPr lang="de-DE" sz="1400" dirty="0"/>
              <a:t> in CO2 </a:t>
            </a:r>
            <a:r>
              <a:rPr lang="de-DE" sz="1400" dirty="0" err="1"/>
              <a:t>Hydrogenation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Methanol, </a:t>
            </a:r>
            <a:r>
              <a:rPr lang="de-DE" sz="1400" dirty="0" err="1"/>
              <a:t>Dimethyl</a:t>
            </a:r>
            <a:r>
              <a:rPr lang="de-DE" sz="1400" dirty="0"/>
              <a:t> Ether, and Higher </a:t>
            </a:r>
            <a:r>
              <a:rPr lang="de-DE" sz="1400" dirty="0" err="1"/>
              <a:t>Alcohols</a:t>
            </a:r>
            <a:r>
              <a:rPr lang="de-DE" sz="1400" dirty="0"/>
              <a:t> (</a:t>
            </a:r>
            <a:r>
              <a:rPr lang="de-DE" sz="1200" b="0" i="0" u="none" strike="noStrike" dirty="0">
                <a:effectLst/>
                <a:latin typeface="Roboto" panose="02000000000000000000" pitchFamily="2" charset="0"/>
                <a:hlinkClick r:id="rId2" tooltip="DOI URL"/>
              </a:rPr>
              <a:t>https://doi.org/10.1021/acs.iecr.7b04866</a:t>
            </a:r>
            <a:r>
              <a:rPr lang="de-DE" sz="1200" b="0" i="0" u="none" strike="noStrike" dirty="0">
                <a:effectLst/>
                <a:latin typeface="Roboto" panose="02000000000000000000" pitchFamily="2" charset="0"/>
              </a:rPr>
              <a:t>)</a:t>
            </a:r>
          </a:p>
          <a:p>
            <a:r>
              <a:rPr lang="de-DE" sz="1400" dirty="0"/>
              <a:t>Van </a:t>
            </a:r>
            <a:r>
              <a:rPr lang="de-DE" sz="1400" dirty="0" err="1"/>
              <a:t>Bennekom</a:t>
            </a:r>
            <a:r>
              <a:rPr lang="de-DE" sz="1400" dirty="0"/>
              <a:t> 2012 - Modeling and Experimental Studies on Phase and Chemical </a:t>
            </a:r>
            <a:r>
              <a:rPr lang="de-DE" sz="1400" dirty="0" err="1"/>
              <a:t>Equilibria</a:t>
            </a:r>
            <a:r>
              <a:rPr lang="de-DE" sz="1400" dirty="0"/>
              <a:t> in High-</a:t>
            </a:r>
            <a:r>
              <a:rPr lang="de-DE" sz="1400" dirty="0" err="1"/>
              <a:t>Pressure</a:t>
            </a:r>
            <a:r>
              <a:rPr lang="de-DE" sz="1400" dirty="0"/>
              <a:t> Methanol Synthesis (</a:t>
            </a:r>
            <a:r>
              <a:rPr lang="de-DE" sz="1200" b="0" i="0" u="none" strike="noStrike" dirty="0">
                <a:effectLst/>
                <a:latin typeface="Roboto" panose="02000000000000000000" pitchFamily="2" charset="0"/>
                <a:hlinkClick r:id="rId3" tooltip="DOI URL"/>
              </a:rPr>
              <a:t>https://doi.org/10.1021/ie3017362</a:t>
            </a:r>
            <a:r>
              <a:rPr lang="de-DE" sz="1200" b="0" i="0" u="none" strike="noStrike" dirty="0">
                <a:effectLst/>
                <a:latin typeface="Roboto" panose="02000000000000000000" pitchFamily="2" charset="0"/>
              </a:rPr>
              <a:t>)</a:t>
            </a:r>
          </a:p>
          <a:p>
            <a:endParaRPr lang="de-DE" sz="1400" dirty="0"/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9C1FC6A5-EC04-2634-D656-034C1849AE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2132856"/>
            <a:ext cx="5036161" cy="4446151"/>
          </a:xfrm>
          <a:prstGeom prst="rect">
            <a:avLst/>
          </a:prstGeom>
        </p:spPr>
      </p:pic>
      <p:pic>
        <p:nvPicPr>
          <p:cNvPr id="7" name="Grafik 6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6418365D-9F0D-60AD-323E-D3F344AF4B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489" y="2114128"/>
            <a:ext cx="3739895" cy="416094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3CD967A5-B3A7-BE95-E2ED-BE498889BCAF}"/>
              </a:ext>
            </a:extLst>
          </p:cNvPr>
          <p:cNvSpPr txBox="1"/>
          <p:nvPr/>
        </p:nvSpPr>
        <p:spPr>
          <a:xfrm>
            <a:off x="9768408" y="2114128"/>
            <a:ext cx="20882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Van </a:t>
            </a:r>
            <a:r>
              <a:rPr lang="de-DE" dirty="0" err="1"/>
              <a:t>Bennekom</a:t>
            </a:r>
            <a:r>
              <a:rPr lang="de-DE" dirty="0"/>
              <a:t> 2012 – Table S.3 (SI);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pressure</a:t>
            </a:r>
            <a:r>
              <a:rPr lang="de-DE" dirty="0"/>
              <a:t>, </a:t>
            </a:r>
            <a:r>
              <a:rPr lang="de-DE" dirty="0" err="1"/>
              <a:t>temperature</a:t>
            </a:r>
            <a:r>
              <a:rPr lang="de-DE" dirty="0"/>
              <a:t> and </a:t>
            </a:r>
            <a:r>
              <a:rPr lang="de-DE" dirty="0" err="1"/>
              <a:t>inlet</a:t>
            </a:r>
            <a:r>
              <a:rPr lang="de-DE" dirty="0"/>
              <a:t> </a:t>
            </a:r>
            <a:r>
              <a:rPr lang="de-DE" dirty="0" err="1"/>
              <a:t>composition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9310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D53050-ECAF-C04C-23B5-E27C6C0F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comparisons</a:t>
            </a:r>
            <a:r>
              <a:rPr lang="de-DE" dirty="0"/>
              <a:t> – Van </a:t>
            </a:r>
            <a:r>
              <a:rPr lang="de-DE" dirty="0" err="1"/>
              <a:t>Bennekom</a:t>
            </a:r>
            <a:r>
              <a:rPr lang="de-DE" dirty="0"/>
              <a:t> 2012 Figure 8</a:t>
            </a:r>
          </a:p>
        </p:txBody>
      </p:sp>
      <p:pic>
        <p:nvPicPr>
          <p:cNvPr id="5" name="Inhaltsplatzhalter 4" descr="Ein Bild, das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E7E25D67-ECBC-5451-721E-74A2B342D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24"/>
          <a:stretch/>
        </p:blipFill>
        <p:spPr>
          <a:xfrm>
            <a:off x="6456040" y="1250156"/>
            <a:ext cx="4536604" cy="5003800"/>
          </a:xfr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0C87A34-ACCE-16B3-0DDB-EBFC50C90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5" y="1844824"/>
            <a:ext cx="55499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3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45EE9-A3DC-0F94-C0D8-20BE3F89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comparisons</a:t>
            </a:r>
            <a:r>
              <a:rPr lang="de-DE" dirty="0"/>
              <a:t> – Van </a:t>
            </a:r>
            <a:r>
              <a:rPr lang="de-DE" dirty="0" err="1"/>
              <a:t>Bennekom</a:t>
            </a:r>
            <a:r>
              <a:rPr lang="de-DE" dirty="0"/>
              <a:t> 2012 Figure 9</a:t>
            </a:r>
          </a:p>
        </p:txBody>
      </p:sp>
      <p:pic>
        <p:nvPicPr>
          <p:cNvPr id="4" name="Inhaltsplatzhalter 4" descr="Ein Bild, das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9CD8D66-4CDD-AC54-9C66-3DF014B17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61"/>
          <a:stretch/>
        </p:blipFill>
        <p:spPr>
          <a:xfrm>
            <a:off x="1055440" y="1250156"/>
            <a:ext cx="4560788" cy="5003800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0AF1432-E4ED-5103-A110-D135A9426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78806"/>
            <a:ext cx="52197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1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5C58A4-4E54-1127-B521-7CD9C177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comparisons</a:t>
            </a:r>
            <a:r>
              <a:rPr lang="de-DE" dirty="0"/>
              <a:t> - </a:t>
            </a:r>
            <a:r>
              <a:rPr lang="de-DE" sz="2400" dirty="0"/>
              <a:t>Stangeland 2018 Figure 1 (a)</a:t>
            </a:r>
            <a:endParaRPr lang="de-DE" dirty="0"/>
          </a:p>
        </p:txBody>
      </p:sp>
      <p:pic>
        <p:nvPicPr>
          <p:cNvPr id="5" name="Inhaltsplatzhalter 4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EC810934-4966-EB8F-771F-9C43F36D0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59"/>
          <a:stretch/>
        </p:blipFill>
        <p:spPr>
          <a:xfrm>
            <a:off x="623392" y="1340768"/>
            <a:ext cx="4598888" cy="4838700"/>
          </a:xfr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81A5013-CEB6-2DCE-0939-D902D482D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47168"/>
            <a:ext cx="50292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6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03BE77-D8C4-AF59-A2BB-92C45001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challenges</a:t>
            </a:r>
            <a:r>
              <a:rPr lang="de-DE" dirty="0"/>
              <a:t>/</a:t>
            </a:r>
            <a:r>
              <a:rPr lang="de-DE" dirty="0" err="1"/>
              <a:t>problems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5CE63F-4466-613C-4CD1-D0677109B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Computational time: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robust </a:t>
            </a:r>
            <a:r>
              <a:rPr lang="de-DE" dirty="0" err="1"/>
              <a:t>solvers</a:t>
            </a:r>
            <a:r>
              <a:rPr lang="de-DE" dirty="0"/>
              <a:t> like </a:t>
            </a:r>
            <a:r>
              <a:rPr lang="de-DE" dirty="0" err="1"/>
              <a:t>basinhopping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jumps</a:t>
            </a:r>
            <a:r>
              <a:rPr lang="de-DE" dirty="0"/>
              <a:t> in </a:t>
            </a:r>
            <a:r>
              <a:rPr lang="de-DE" dirty="0" err="1"/>
              <a:t>plots</a:t>
            </a:r>
            <a:r>
              <a:rPr lang="de-DE" dirty="0"/>
              <a:t> in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observed</a:t>
            </a:r>
            <a:r>
              <a:rPr lang="de-DE" dirty="0"/>
              <a:t>, </a:t>
            </a:r>
            <a:r>
              <a:rPr lang="de-DE" dirty="0" err="1"/>
              <a:t>see</a:t>
            </a:r>
            <a:r>
              <a:rPr lang="de-DE" dirty="0"/>
              <a:t> PowerPoint </a:t>
            </a:r>
            <a:r>
              <a:rPr lang="de-DE" dirty="0" err="1"/>
              <a:t>figures</a:t>
            </a:r>
            <a:r>
              <a:rPr lang="de-DE" dirty="0"/>
              <a:t> and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repo</a:t>
            </a:r>
            <a:endParaRPr lang="de-DE" dirty="0"/>
          </a:p>
          <a:p>
            <a:pPr lvl="1"/>
            <a:r>
              <a:rPr lang="de-DE" dirty="0"/>
              <a:t>BUT: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time </a:t>
            </a:r>
            <a:r>
              <a:rPr lang="de-DE" dirty="0" err="1"/>
              <a:t>consuming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f.e</a:t>
            </a:r>
            <a:r>
              <a:rPr lang="de-DE" dirty="0"/>
              <a:t>. 1e6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generated</a:t>
            </a:r>
            <a:r>
              <a:rPr lang="de-DE" dirty="0"/>
              <a:t> (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</a:t>
            </a:r>
            <a:r>
              <a:rPr lang="de-DE" dirty="0" err="1"/>
              <a:t>computational</a:t>
            </a:r>
            <a:r>
              <a:rPr lang="de-DE" dirty="0"/>
              <a:t> time on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laptop</a:t>
            </a:r>
            <a:r>
              <a:rPr lang="de-DE" dirty="0"/>
              <a:t>…..)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GEM </a:t>
            </a:r>
            <a:r>
              <a:rPr lang="de-DE" dirty="0" err="1"/>
              <a:t>with</a:t>
            </a:r>
            <a:r>
              <a:rPr lang="de-DE" dirty="0"/>
              <a:t> SLSQP (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dirty="0" err="1"/>
              <a:t>calculation</a:t>
            </a:r>
            <a:r>
              <a:rPr lang="de-DE" dirty="0"/>
              <a:t>):</a:t>
            </a:r>
          </a:p>
          <a:p>
            <a:pPr lvl="1"/>
            <a:r>
              <a:rPr lang="de-DE" dirty="0"/>
              <a:t>Same </a:t>
            </a:r>
            <a:r>
              <a:rPr lang="de-DE" dirty="0" err="1"/>
              <a:t>problem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methANNation</a:t>
            </a:r>
            <a:r>
              <a:rPr lang="de-DE" dirty="0"/>
              <a:t>: </a:t>
            </a:r>
            <a:r>
              <a:rPr lang="de-DE" dirty="0" err="1"/>
              <a:t>obviously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though</a:t>
            </a:r>
            <a:r>
              <a:rPr lang="de-DE" dirty="0"/>
              <a:t> </a:t>
            </a:r>
            <a:r>
              <a:rPr lang="de-DE" dirty="0" err="1"/>
              <a:t>solver</a:t>
            </a:r>
            <a:r>
              <a:rPr lang="de-DE" dirty="0"/>
              <a:t> </a:t>
            </a:r>
            <a:r>
              <a:rPr lang="de-DE" dirty="0" err="1"/>
              <a:t>converged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extra </a:t>
            </a:r>
            <a:r>
              <a:rPr lang="de-DE" dirty="0" err="1">
                <a:sym typeface="Wingdings" pitchFamily="2" charset="2"/>
              </a:rPr>
              <a:t>criterion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needed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evaluate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convergence</a:t>
            </a:r>
            <a:endParaRPr lang="de-DE" dirty="0">
              <a:sym typeface="Wingdings" pitchFamily="2" charset="2"/>
            </a:endParaRPr>
          </a:p>
          <a:p>
            <a:pPr lvl="1"/>
            <a:r>
              <a:rPr lang="de-DE" dirty="0">
                <a:sym typeface="Wingdings" pitchFamily="2" charset="2"/>
              </a:rPr>
              <a:t>Problem: additional </a:t>
            </a:r>
            <a:r>
              <a:rPr lang="de-DE" dirty="0" err="1">
                <a:sym typeface="Wingdings" pitchFamily="2" charset="2"/>
              </a:rPr>
              <a:t>two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phase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region</a:t>
            </a:r>
            <a:r>
              <a:rPr lang="de-DE" dirty="0">
                <a:sym typeface="Wingdings" pitchFamily="2" charset="2"/>
              </a:rPr>
              <a:t>  </a:t>
            </a:r>
            <a:r>
              <a:rPr lang="de-DE" dirty="0" err="1">
                <a:sym typeface="Wingdings" pitchFamily="2" charset="2"/>
              </a:rPr>
              <a:t>what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do…?</a:t>
            </a:r>
          </a:p>
          <a:p>
            <a:pPr lvl="1"/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high </a:t>
            </a:r>
            <a:r>
              <a:rPr lang="de-DE" dirty="0" err="1">
                <a:sym typeface="Wingdings" pitchFamily="2" charset="2"/>
              </a:rPr>
              <a:t>temperatures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however</a:t>
            </a:r>
            <a:r>
              <a:rPr lang="de-DE" dirty="0">
                <a:sym typeface="Wingdings" pitchFamily="2" charset="2"/>
              </a:rPr>
              <a:t>, K</a:t>
            </a:r>
            <a:r>
              <a:rPr lang="de-DE" baseline="30000" dirty="0">
                <a:sym typeface="Wingdings" pitchFamily="2" charset="2"/>
              </a:rPr>
              <a:t>0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comparison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would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work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very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good</a:t>
            </a:r>
            <a:endParaRPr lang="de-DE" dirty="0">
              <a:sym typeface="Wingdings" pitchFamily="2" charset="2"/>
            </a:endParaRPr>
          </a:p>
          <a:p>
            <a:pPr lvl="1"/>
            <a:r>
              <a:rPr lang="de-DE" dirty="0" err="1">
                <a:sym typeface="Wingdings" pitchFamily="2" charset="2"/>
              </a:rPr>
              <a:t>Nevertheless</a:t>
            </a:r>
            <a:r>
              <a:rPr lang="de-DE" dirty="0">
                <a:sym typeface="Wingdings" pitchFamily="2" charset="2"/>
              </a:rPr>
              <a:t>: </a:t>
            </a:r>
            <a:r>
              <a:rPr lang="de-DE" dirty="0" err="1">
                <a:sym typeface="Wingdings" pitchFamily="2" charset="2"/>
              </a:rPr>
              <a:t>problematic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one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never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100% </a:t>
            </a:r>
            <a:r>
              <a:rPr lang="de-DE" dirty="0" err="1">
                <a:sym typeface="Wingdings" pitchFamily="2" charset="2"/>
              </a:rPr>
              <a:t>sure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whether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solution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correct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or</a:t>
            </a:r>
            <a:r>
              <a:rPr lang="de-DE" dirty="0">
                <a:sym typeface="Wingdings" pitchFamily="2" charset="2"/>
              </a:rPr>
              <a:t> not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>
                <a:sym typeface="Wingdings" pitchFamily="2" charset="2"/>
              </a:rPr>
              <a:t>Another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problem</a:t>
            </a:r>
            <a:r>
              <a:rPr lang="de-DE" dirty="0">
                <a:sym typeface="Wingdings" pitchFamily="2" charset="2"/>
              </a:rPr>
              <a:t>:</a:t>
            </a:r>
          </a:p>
          <a:p>
            <a:pPr lvl="1"/>
            <a:r>
              <a:rPr lang="de-DE" dirty="0">
                <a:sym typeface="Wingdings" pitchFamily="2" charset="2"/>
              </a:rPr>
              <a:t>A </a:t>
            </a:r>
            <a:r>
              <a:rPr lang="de-DE" dirty="0" err="1">
                <a:sym typeface="Wingdings" pitchFamily="2" charset="2"/>
              </a:rPr>
              <a:t>criterion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determine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confidently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whether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single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phase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solution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vapor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or</a:t>
            </a:r>
            <a:r>
              <a:rPr lang="de-DE" dirty="0">
                <a:sym typeface="Wingdings" pitchFamily="2" charset="2"/>
              </a:rPr>
              <a:t> liquid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still </a:t>
            </a:r>
            <a:r>
              <a:rPr lang="de-DE" dirty="0" err="1">
                <a:sym typeface="Wingdings" pitchFamily="2" charset="2"/>
              </a:rPr>
              <a:t>needed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VLE </a:t>
            </a:r>
            <a:r>
              <a:rPr lang="de-DE" dirty="0" err="1">
                <a:sym typeface="Wingdings" pitchFamily="2" charset="2"/>
              </a:rPr>
              <a:t>it‘s</a:t>
            </a:r>
            <a:r>
              <a:rPr lang="de-DE" dirty="0">
                <a:sym typeface="Wingdings" pitchFamily="2" charset="2"/>
              </a:rPr>
              <a:t> not a </a:t>
            </a:r>
            <a:r>
              <a:rPr lang="de-DE" dirty="0" err="1">
                <a:sym typeface="Wingdings" pitchFamily="2" charset="2"/>
              </a:rPr>
              <a:t>problem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compressibility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factors</a:t>
            </a:r>
            <a:r>
              <a:rPr lang="de-DE" dirty="0">
                <a:sym typeface="Wingdings" pitchFamily="2" charset="2"/>
              </a:rPr>
              <a:t> Z</a:t>
            </a:r>
            <a:r>
              <a:rPr lang="de-DE" baseline="-25000" dirty="0">
                <a:sym typeface="Wingdings" pitchFamily="2" charset="2"/>
              </a:rPr>
              <a:t>L</a:t>
            </a:r>
            <a:r>
              <a:rPr lang="de-DE" dirty="0">
                <a:sym typeface="Wingdings" pitchFamily="2" charset="2"/>
              </a:rPr>
              <a:t> and </a:t>
            </a:r>
            <a:r>
              <a:rPr lang="de-DE" dirty="0" err="1">
                <a:sym typeface="Wingdings" pitchFamily="2" charset="2"/>
              </a:rPr>
              <a:t>Z</a:t>
            </a:r>
            <a:r>
              <a:rPr lang="de-DE" baseline="-25000" dirty="0" err="1">
                <a:sym typeface="Wingdings" pitchFamily="2" charset="2"/>
              </a:rPr>
              <a:t>v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easily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compared</a:t>
            </a:r>
            <a:endParaRPr lang="de-DE" dirty="0">
              <a:sym typeface="Wingdings" pitchFamily="2" charset="2"/>
            </a:endParaRP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4697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tabLst>
                <a:tab pos="1255713" algn="l"/>
              </a:tabLst>
            </a:pPr>
            <a:r>
              <a:rPr lang="en-US" dirty="0"/>
              <a:t>People:	Names</a:t>
            </a:r>
          </a:p>
          <a:p>
            <a:pPr algn="l"/>
            <a:endParaRPr lang="en-US" dirty="0"/>
          </a:p>
          <a:p>
            <a:pPr algn="l">
              <a:tabLst>
                <a:tab pos="1255713" algn="l"/>
              </a:tabLst>
            </a:pPr>
            <a:r>
              <a:rPr lang="en-US" dirty="0"/>
              <a:t>Funding:	Sources</a:t>
            </a:r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0</TotalTime>
  <Words>711</Words>
  <Application>Microsoft Macintosh PowerPoint</Application>
  <PresentationFormat>Breitbild</PresentationFormat>
  <Paragraphs>56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9" baseType="lpstr">
      <vt:lpstr>Arial</vt:lpstr>
      <vt:lpstr>Calibri</vt:lpstr>
      <vt:lpstr>ElsevierSans</vt:lpstr>
      <vt:lpstr>Roboto</vt:lpstr>
      <vt:lpstr>Symbol</vt:lpstr>
      <vt:lpstr>Times</vt:lpstr>
      <vt:lpstr>Wingdings</vt:lpstr>
      <vt:lpstr>Larissa</vt:lpstr>
      <vt:lpstr>methaNNol + (DME synthesis)</vt:lpstr>
      <vt:lpstr>Where to find the relevant files for methaNNol?</vt:lpstr>
      <vt:lpstr>Gibbs Energy Minimization Algorithm for VLE – Literature sources</vt:lpstr>
      <vt:lpstr>Procedure for calculating simultaneous phase and chemical equilibrium</vt:lpstr>
      <vt:lpstr>Phase stability criterion: Tangent plane distance function</vt:lpstr>
      <vt:lpstr>Comparison of GEM model with literature data</vt:lpstr>
      <vt:lpstr>Further literature comparisons – Van Bennekom 2012 Figure 8</vt:lpstr>
      <vt:lpstr>Further literature comparisons – Van Bennekom 2012 Figure 9</vt:lpstr>
      <vt:lpstr>Further literature comparisons - Stangeland 2018 Figure 1 (a)</vt:lpstr>
      <vt:lpstr>Current challenges/problems</vt:lpstr>
      <vt:lpstr>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 Geri</dc:creator>
  <cp:lastModifiedBy>Johannes Geri</cp:lastModifiedBy>
  <cp:revision>2</cp:revision>
  <cp:lastPrinted>2015-02-13T10:13:39Z</cp:lastPrinted>
  <dcterms:created xsi:type="dcterms:W3CDTF">2025-04-01T19:32:36Z</dcterms:created>
  <dcterms:modified xsi:type="dcterms:W3CDTF">2025-04-02T13:32:49Z</dcterms:modified>
</cp:coreProperties>
</file>